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93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9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걱정..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시니어 개발자도 대체될까?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2c35c7000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b2c35c700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793543b4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b793543b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2c35c7000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b2c35c700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7a24a1a25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b7a24a1a2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7967abf38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b7967abf3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793543b43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b793543b4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이게 미래가 아니라 현재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AI가 코드를 짜고 사람은 리뷰한ㄷ ㅏ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793543b43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b793543b4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7967abf38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7967abf3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7a540a349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7a540a34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이게 미래가 아니라 현재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7a540a349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b7a540a34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이게 미래가 아니라 현재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7a540a349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b7a540a34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이게 미래가 아니라 현재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7a540a349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b7a540a34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6aa901a08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b6aa901a0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목적지를 가기 위해 당장 알아야할 건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앞으로 가기 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경로 교차로 가는 방법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개발자는 자격증이 크게 필요 없는 직업 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6aa901a08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b6aa901a0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목적지를 가기 위해 당장 알아야할 건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앞으로 가기 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경로 교차로 가는 방법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개발자는 자격증이 크게 필요 없는 직업 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753cb520c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b753cb520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753cb520c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b753cb520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목적지를 가기 위해 당장 알아야할 건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앞으로 가기 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경로 교차로 가는 방법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rPr lang="ko-KR" sz="1400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개발자는 자격증이 크게 필요 없는 직업 </a:t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KR"/>
              <a:buNone/>
            </a:pPr>
            <a:r>
              <a:t/>
            </a:r>
            <a:endParaRPr sz="1400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753cb520c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b753cb520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7a540a349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b7a540a34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753cb520c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b753cb520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나는 회사는 어떻게 일하는 지 궁금했다.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7967abf38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b7967abf3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7967abf38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b7967abf3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7a540a349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b7a540a34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7a540a349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b7a540a34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7a540a349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b7a540a34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7a540a349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b7a540a34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7a540a349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b7a540a34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793543b43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b793543b4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7b1017c1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b7b1017c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2c35c7000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b2c35c70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753cb520c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b753cb520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753cb520c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b753cb520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7967abf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b7967abf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7967abf3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7967abf3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4F4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42200" y="905575"/>
            <a:ext cx="80064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  <a:defRPr b="1" sz="44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2700" y="369474"/>
            <a:ext cx="1470225" cy="47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2" type="ctrTitle"/>
          </p:nvPr>
        </p:nvSpPr>
        <p:spPr>
          <a:xfrm>
            <a:off x="442200" y="3089150"/>
            <a:ext cx="825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b="1" sz="12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ctrTitle"/>
          </p:nvPr>
        </p:nvSpPr>
        <p:spPr>
          <a:xfrm>
            <a:off x="442200" y="3352975"/>
            <a:ext cx="825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ctrTitle"/>
          </p:nvPr>
        </p:nvSpPr>
        <p:spPr>
          <a:xfrm rot="5400000">
            <a:off x="7607250" y="3654050"/>
            <a:ext cx="25899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16977" l="0" r="0" t="0"/>
          <a:stretch/>
        </p:blipFill>
        <p:spPr>
          <a:xfrm>
            <a:off x="442700" y="3758325"/>
            <a:ext cx="8251200" cy="1525200"/>
          </a:xfrm>
          <a:prstGeom prst="roundRect">
            <a:avLst>
              <a:gd fmla="val 3413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1200"/>
              <a:buNone/>
              <a:defRPr sz="1200">
                <a:solidFill>
                  <a:srgbClr val="5B5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900"/>
              <a:buNone/>
              <a:defRPr>
                <a:solidFill>
                  <a:srgbClr val="AEB3FA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800"/>
              <a:buNone/>
              <a:defRPr>
                <a:solidFill>
                  <a:srgbClr val="AEB3FA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298800" y="1202400"/>
            <a:ext cx="85464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290025" y="973775"/>
            <a:ext cx="8556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" name="Google Shape;22;p3" title="Upstage_education_Word_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2325" y="232810"/>
            <a:ext cx="1602880" cy="1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bg>
      <p:bgPr>
        <a:solidFill>
          <a:srgbClr val="F9F9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98800" y="1105363"/>
            <a:ext cx="8546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b="1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298800" y="339250"/>
            <a:ext cx="854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1800"/>
              <a:buNone/>
              <a:defRPr b="1" sz="1800">
                <a:solidFill>
                  <a:srgbClr val="5B5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900"/>
              <a:buNone/>
              <a:defRPr>
                <a:solidFill>
                  <a:srgbClr val="AEB3FA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800"/>
              <a:buNone/>
              <a:defRPr>
                <a:solidFill>
                  <a:srgbClr val="AEB3FA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EB3FA"/>
              </a:buClr>
              <a:buSzPts val="600"/>
              <a:buNone/>
              <a:defRPr>
                <a:solidFill>
                  <a:srgbClr val="AEB3FA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298800" y="2747225"/>
            <a:ext cx="8546400" cy="19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  <a:defRPr sz="15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8" name="Google Shape;28;p4" title="Upstage_education_Word_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2325" y="232810"/>
            <a:ext cx="1602880" cy="1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 1">
  <p:cSld name="CUSTOM_3_1">
    <p:bg>
      <p:bgPr>
        <a:solidFill>
          <a:srgbClr val="F4F4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5"/>
          <p:cNvCxnSpPr/>
          <p:nvPr/>
        </p:nvCxnSpPr>
        <p:spPr>
          <a:xfrm>
            <a:off x="518910" y="4547982"/>
            <a:ext cx="8006400" cy="0"/>
          </a:xfrm>
          <a:prstGeom prst="straightConnector1">
            <a:avLst/>
          </a:prstGeom>
          <a:noFill/>
          <a:ln cap="flat" cmpd="sng" w="9525">
            <a:solidFill>
              <a:srgbClr val="979CA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/>
        </p:nvSpPr>
        <p:spPr>
          <a:xfrm>
            <a:off x="2232045" y="4547982"/>
            <a:ext cx="1371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700"/>
              <a:buFont typeface="Arial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www.upstage.ai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521188" y="4547982"/>
            <a:ext cx="1605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700"/>
              <a:buFont typeface="Arial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© 2025 Upstage Co., Ltd.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603600" y="4546800"/>
            <a:ext cx="22248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828400" y="4546800"/>
            <a:ext cx="2696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900" y="545374"/>
            <a:ext cx="1470225" cy="47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0" y="1206625"/>
            <a:ext cx="6341126" cy="10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F4F4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086000" y="291600"/>
            <a:ext cx="3945600" cy="44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 sz="900"/>
            </a:lvl8pPr>
            <a:lvl9pPr indent="-2667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sp>
        <p:nvSpPr>
          <p:cNvPr id="39" name="Google Shape;39;p6"/>
          <p:cNvSpPr txBox="1"/>
          <p:nvPr/>
        </p:nvSpPr>
        <p:spPr>
          <a:xfrm>
            <a:off x="514800" y="3967200"/>
            <a:ext cx="31752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ko-KR" sz="4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b="1" i="0" sz="4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8240400" y="291600"/>
            <a:ext cx="604800" cy="44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1200"/>
              <a:buAutoNum type="arabicPeriod"/>
              <a:defRPr>
                <a:solidFill>
                  <a:srgbClr val="1C2537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900"/>
              <a:buAutoNum type="alphaLcPeriod"/>
              <a:defRPr>
                <a:solidFill>
                  <a:srgbClr val="1C2537"/>
                </a:solidFill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800"/>
              <a:buAutoNum type="romanLcPeriod"/>
              <a:defRPr>
                <a:solidFill>
                  <a:srgbClr val="1C2537"/>
                </a:solidFill>
              </a:defRPr>
            </a:lvl3pPr>
            <a:lvl4pPr indent="-2667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600"/>
              <a:buAutoNum type="arabicPeriod"/>
              <a:defRPr>
                <a:solidFill>
                  <a:srgbClr val="1C2537"/>
                </a:solidFill>
              </a:defRPr>
            </a:lvl4pPr>
            <a:lvl5pPr indent="-2667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600"/>
              <a:buAutoNum type="alphaLcPeriod"/>
              <a:defRPr>
                <a:solidFill>
                  <a:srgbClr val="1C2537"/>
                </a:solidFill>
              </a:defRPr>
            </a:lvl5pPr>
            <a:lvl6pPr indent="-2667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600"/>
              <a:buAutoNum type="romanLcPeriod"/>
              <a:defRPr>
                <a:solidFill>
                  <a:srgbClr val="1C2537"/>
                </a:solidFill>
              </a:defRPr>
            </a:lvl6pPr>
            <a:lvl7pPr indent="-2667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600"/>
              <a:buAutoNum type="arabicPeriod"/>
              <a:defRPr>
                <a:solidFill>
                  <a:srgbClr val="1C2537"/>
                </a:solidFill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900"/>
              <a:buAutoNum type="alphaLcPeriod"/>
              <a:defRPr sz="900">
                <a:solidFill>
                  <a:srgbClr val="1C2537"/>
                </a:solidFill>
              </a:defRPr>
            </a:lvl8pPr>
            <a:lvl9pPr indent="-2667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600"/>
              <a:buAutoNum type="romanLcPeriod"/>
              <a:defRPr>
                <a:solidFill>
                  <a:srgbClr val="1C2537"/>
                </a:solidFill>
              </a:defRPr>
            </a:lvl9pPr>
          </a:lstStyle>
          <a:p/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2">
            <a:alphaModFix/>
          </a:blip>
          <a:srcRect b="0" l="1950" r="1941" t="0"/>
          <a:stretch/>
        </p:blipFill>
        <p:spPr>
          <a:xfrm>
            <a:off x="444001" y="322325"/>
            <a:ext cx="648350" cy="21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444050" y="1060300"/>
            <a:ext cx="5881500" cy="3027000"/>
          </a:xfrm>
          <a:prstGeom prst="roundRect">
            <a:avLst>
              <a:gd fmla="val 269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715900" y="1341250"/>
            <a:ext cx="52926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2537"/>
              </a:buClr>
              <a:buSzPts val="3000"/>
              <a:buNone/>
              <a:defRPr b="1">
                <a:solidFill>
                  <a:srgbClr val="1C253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 1">
  <p:cSld name="CUSTOM_2_2_1">
    <p:bg>
      <p:bgPr>
        <a:solidFill>
          <a:srgbClr val="F9F9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1200"/>
              <a:buNone/>
              <a:defRPr sz="1200">
                <a:solidFill>
                  <a:srgbClr val="5B52F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900"/>
              <a:buNone/>
              <a:defRPr>
                <a:solidFill>
                  <a:srgbClr val="5B52FF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800"/>
              <a:buNone/>
              <a:defRPr>
                <a:solidFill>
                  <a:srgbClr val="5B52FF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600"/>
              <a:buNone/>
              <a:defRPr>
                <a:solidFill>
                  <a:srgbClr val="5B52FF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600"/>
              <a:buNone/>
              <a:defRPr>
                <a:solidFill>
                  <a:srgbClr val="5B52FF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600"/>
              <a:buNone/>
              <a:defRPr>
                <a:solidFill>
                  <a:srgbClr val="5B52FF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600"/>
              <a:buNone/>
              <a:defRPr>
                <a:solidFill>
                  <a:srgbClr val="5B52FF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600"/>
              <a:buNone/>
              <a:defRPr>
                <a:solidFill>
                  <a:srgbClr val="5B52FF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600"/>
              <a:buNone/>
              <a:defRPr>
                <a:solidFill>
                  <a:srgbClr val="5B52FF"/>
                </a:solidFill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298800" y="1202400"/>
            <a:ext cx="85464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50" name="Google Shape;50;p8"/>
          <p:cNvCxnSpPr/>
          <p:nvPr/>
        </p:nvCxnSpPr>
        <p:spPr>
          <a:xfrm>
            <a:off x="290025" y="973775"/>
            <a:ext cx="8556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1" name="Google Shape;51;p8" title="Upstage_education_Word_Black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42325" y="232810"/>
            <a:ext cx="1602880" cy="1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bg>
      <p:bgPr>
        <a:solidFill>
          <a:srgbClr val="F4F4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 b="159" l="0" r="0" t="159"/>
          <a:stretch/>
        </p:blipFill>
        <p:spPr>
          <a:xfrm>
            <a:off x="518911" y="1137725"/>
            <a:ext cx="4911255" cy="4979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4;p9"/>
          <p:cNvCxnSpPr/>
          <p:nvPr/>
        </p:nvCxnSpPr>
        <p:spPr>
          <a:xfrm>
            <a:off x="518910" y="4547982"/>
            <a:ext cx="8006400" cy="0"/>
          </a:xfrm>
          <a:prstGeom prst="straightConnector1">
            <a:avLst/>
          </a:prstGeom>
          <a:noFill/>
          <a:ln cap="flat" cmpd="sng" w="9525">
            <a:solidFill>
              <a:srgbClr val="979CA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9"/>
          <p:cNvSpPr txBox="1"/>
          <p:nvPr/>
        </p:nvSpPr>
        <p:spPr>
          <a:xfrm>
            <a:off x="2232045" y="4547982"/>
            <a:ext cx="1371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700"/>
              <a:buFont typeface="Arial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www.upstage.ai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521188" y="4547982"/>
            <a:ext cx="1605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700"/>
              <a:buFont typeface="Arial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© 2025 Upstage Co., Ltd.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603600" y="4546800"/>
            <a:ext cx="22248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5828400" y="4546800"/>
            <a:ext cx="2696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79400" lvl="0" marL="4572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  <a:defRPr sz="800"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pic>
        <p:nvPicPr>
          <p:cNvPr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900" y="545374"/>
            <a:ext cx="1470225" cy="476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911" y="1137725"/>
            <a:ext cx="4911256" cy="497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 2">
  <p:cSld name="CUSTOM_2_2_2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298800" y="1202400"/>
            <a:ext cx="85464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indent="-279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romanLcPeriod"/>
              <a:defRPr/>
            </a:lvl3pPr>
            <a:lvl4pPr indent="-2667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4pPr>
            <a:lvl5pPr indent="-2667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5pPr>
            <a:lvl6pPr indent="-2667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6pPr>
            <a:lvl7pPr indent="-2667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  <a:defRPr/>
            </a:lvl7pPr>
            <a:lvl8pPr indent="-2667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lphaLcPeriod"/>
              <a:defRPr/>
            </a:lvl8pPr>
            <a:lvl9pPr indent="-2667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romanLcPeriod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290025" y="973775"/>
            <a:ext cx="85560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" name="Google Shape;66;p10" title="Upstage_education_Word_Bl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42325" y="232810"/>
            <a:ext cx="1602880" cy="1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4F4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8400" y="274320"/>
            <a:ext cx="8006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3000"/>
              <a:buFont typeface="Noto Sans KR"/>
              <a:buNone/>
              <a:defRPr b="0" i="0" sz="30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2FF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8400" y="1368000"/>
            <a:ext cx="8006400" cy="3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AutoNum type="arabicPeriod"/>
              <a:defRPr b="0" i="0" sz="1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AutoNum type="alphaLcPeriod"/>
              <a:defRPr b="0" i="0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AutoNum type="romanLcPeriod"/>
              <a:defRPr b="0" i="0" sz="10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857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KR"/>
              <a:buAutoNum type="arabicPeriod"/>
              <a:defRPr b="0" i="0" sz="9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79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KR"/>
              <a:buAutoNum type="alphaLcPeriod"/>
              <a:defRPr b="0" i="0" sz="8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730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KR"/>
              <a:buAutoNum type="romanLcPeriod"/>
              <a:defRPr b="0" i="0" sz="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667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AutoNum type="arabicPeriod"/>
              <a:defRPr b="0" i="0" sz="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667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AutoNum type="alphaLcPeriod"/>
              <a:defRPr b="0" i="0" sz="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AutoNum type="romanLcPeriod"/>
              <a:defRPr b="0" i="0" sz="6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X0eKqPlgPN4" TargetMode="External"/><Relationship Id="rId4" Type="http://schemas.openxmlformats.org/officeDocument/2006/relationships/hyperlink" Target="https://www.youtube.com/watch?v=mpgbcyAltDc" TargetMode="External"/><Relationship Id="rId5" Type="http://schemas.openxmlformats.org/officeDocument/2006/relationships/hyperlink" Target="https://jeho.page/essay/2025/08/11/solo-developer.html" TargetMode="External"/><Relationship Id="rId6" Type="http://schemas.openxmlformats.org/officeDocument/2006/relationships/hyperlink" Target="https://jeho.page/essay/2025/08/11/solo-developer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news.hada.io/topic?id=25574&amp;utm_source=slack&amp;utm_medium=bot&amp;utm_campaign=T053C7SL8GL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ech.kakao.com/posts/730?utm_source=chatgpt.com" TargetMode="External"/><Relationship Id="rId4" Type="http://schemas.openxmlformats.org/officeDocument/2006/relationships/hyperlink" Target="https://devocean.sk.com/blog/techBoardDetail.do?ID=167564&amp;boardType=techBlog" TargetMode="External"/><Relationship Id="rId5" Type="http://schemas.openxmlformats.org/officeDocument/2006/relationships/hyperlink" Target="https://helloworld.kurly.com/blog/oms-claude-ai-workflow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zighang.com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ctrTitle"/>
          </p:nvPr>
        </p:nvSpPr>
        <p:spPr>
          <a:xfrm>
            <a:off x="442200" y="905575"/>
            <a:ext cx="80064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ko-KR" sz="4000"/>
              <a:t>일하는 방식의 변화와 준비</a:t>
            </a:r>
            <a:endParaRPr sz="4000"/>
          </a:p>
        </p:txBody>
      </p:sp>
      <p:sp>
        <p:nvSpPr>
          <p:cNvPr id="72" name="Google Shape;72;p11"/>
          <p:cNvSpPr txBox="1"/>
          <p:nvPr>
            <p:ph idx="2" type="ctrTitle"/>
          </p:nvPr>
        </p:nvSpPr>
        <p:spPr>
          <a:xfrm>
            <a:off x="442200" y="3089150"/>
            <a:ext cx="825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서영학</a:t>
            </a:r>
            <a:endParaRPr/>
          </a:p>
        </p:txBody>
      </p:sp>
      <p:sp>
        <p:nvSpPr>
          <p:cNvPr id="73" name="Google Shape;73;p11"/>
          <p:cNvSpPr txBox="1"/>
          <p:nvPr>
            <p:ph idx="4" type="ctrTitle"/>
          </p:nvPr>
        </p:nvSpPr>
        <p:spPr>
          <a:xfrm rot="5400000">
            <a:off x="7607250" y="3654050"/>
            <a:ext cx="25899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ko-KR"/>
              <a:t>© 2025 Upstage Co., Ltd.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lt1"/>
                </a:solidFill>
              </a:rPr>
              <a:t>저작권 안내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0" name="Google Shape;80;p12"/>
          <p:cNvSpPr txBox="1"/>
          <p:nvPr>
            <p:ph idx="2" type="body"/>
          </p:nvPr>
        </p:nvSpPr>
        <p:spPr>
          <a:xfrm>
            <a:off x="298800" y="1202400"/>
            <a:ext cx="85464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 sz="900">
                <a:solidFill>
                  <a:srgbClr val="9CA7FF"/>
                </a:solidFill>
              </a:rPr>
              <a:t> </a:t>
            </a:r>
            <a:endParaRPr b="1" sz="900">
              <a:solidFill>
                <a:srgbClr val="9CA7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9CA7FF"/>
                </a:solidFill>
              </a:rPr>
              <a:t>(주)업스테이지가 제공하는 모든 교육 콘텐츠의 지식재산권은</a:t>
            </a:r>
            <a:endParaRPr b="1">
              <a:solidFill>
                <a:srgbClr val="9CA7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9CA7FF"/>
                </a:solidFill>
              </a:rPr>
              <a:t>운영 주체인 (주)업스테이지 또는 해당 저작물의 적법한 관리자에게 귀속되어 있습니다.</a:t>
            </a:r>
            <a:endParaRPr b="1">
              <a:solidFill>
                <a:srgbClr val="9CA7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 sz="1000">
                <a:solidFill>
                  <a:schemeClr val="lt1"/>
                </a:solidFill>
              </a:rPr>
              <a:t>콘텐츠 일부 또는 전부를 복사, 복제, 판매, 재판매 공개, 공유 등을 할 수 없습니다. 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 sz="1000">
                <a:solidFill>
                  <a:schemeClr val="lt1"/>
                </a:solidFill>
              </a:rPr>
              <a:t>유출될 경우 지식재산권 침해에 대한 책임을 부담할 수 있습니다. 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 sz="1000">
                <a:solidFill>
                  <a:schemeClr val="lt1"/>
                </a:solidFill>
              </a:rPr>
              <a:t>유출에 해당하여 금지되는 행위의 예시는 다음과 같습니다. </a:t>
            </a:r>
            <a:endParaRPr b="1"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ko-KR" sz="1000">
                <a:solidFill>
                  <a:schemeClr val="lt1"/>
                </a:solidFill>
              </a:rPr>
              <a:t>콘텐츠를 재가공하여 온/오프라인으로 공개하는 행위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ko-KR" sz="1000">
                <a:solidFill>
                  <a:schemeClr val="lt1"/>
                </a:solidFill>
              </a:rPr>
              <a:t>콘텐츠의 일부 또는 전부를 이용하여 인쇄물을 만드는 행위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ko-KR" sz="1000">
                <a:solidFill>
                  <a:schemeClr val="lt1"/>
                </a:solidFill>
              </a:rPr>
              <a:t>콘텐츠의 전부 또는 일부를 녹취 또는 녹화하거나 녹취록을 작성하는 행위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ko-KR" sz="1000">
                <a:solidFill>
                  <a:schemeClr val="lt1"/>
                </a:solidFill>
              </a:rPr>
              <a:t>콘텐츠의 전부 또는 일부를 스크린 캡쳐하거나 카메라로 촬영하는 행위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ko-KR" sz="1000">
                <a:solidFill>
                  <a:schemeClr val="lt1"/>
                </a:solidFill>
              </a:rPr>
              <a:t>지인을 포함한 제3자에게 콘텐츠의 일부 또는 전부를 공유하는 행위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ko-KR" sz="1000">
                <a:solidFill>
                  <a:schemeClr val="lt1"/>
                </a:solidFill>
              </a:rPr>
              <a:t>다른 정보와 결합하여 Upstage Education의 콘텐츠임을 알아볼 수 있는 저작물을 작성, 공개하는 행위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ko-KR" sz="1000">
                <a:solidFill>
                  <a:schemeClr val="lt1"/>
                </a:solidFill>
              </a:rPr>
              <a:t>제공된 데이터의 일부 혹은 전부를 Upstage Education 프로젝트/실습 수행 이외의 목적으로 사용하는 행위위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2" type="body"/>
          </p:nvPr>
        </p:nvSpPr>
        <p:spPr>
          <a:xfrm>
            <a:off x="298800" y="1202400"/>
            <a:ext cx="85464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목차</a:t>
            </a:r>
            <a:endParaRPr b="1">
              <a:solidFill>
                <a:srgbClr val="5B52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solidFill>
                <a:srgbClr val="5B52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AutoNum type="arabicPeriod"/>
            </a:pPr>
            <a:r>
              <a:rPr lang="ko-KR" sz="1400">
                <a:solidFill>
                  <a:schemeClr val="accent4"/>
                </a:solidFill>
              </a:rPr>
              <a:t>강사 소개</a:t>
            </a:r>
            <a:endParaRPr sz="1400">
              <a:solidFill>
                <a:schemeClr val="accent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AutoNum type="arabicPeriod"/>
            </a:pPr>
            <a:r>
              <a:rPr lang="ko-KR" sz="1400">
                <a:solidFill>
                  <a:schemeClr val="accent4"/>
                </a:solidFill>
              </a:rPr>
              <a:t>AI</a:t>
            </a:r>
            <a:r>
              <a:rPr lang="ko-KR" sz="1400">
                <a:solidFill>
                  <a:schemeClr val="accent4"/>
                </a:solidFill>
              </a:rPr>
              <a:t>는 현업 어떻게 바꾸고 있는가? </a:t>
            </a:r>
            <a:endParaRPr sz="1400">
              <a:solidFill>
                <a:schemeClr val="accent4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AutoNum type="arabicPeriod"/>
            </a:pPr>
            <a:r>
              <a:rPr lang="ko-KR" sz="1400">
                <a:solidFill>
                  <a:schemeClr val="accent4"/>
                </a:solidFill>
              </a:rPr>
              <a:t>진로</a:t>
            </a:r>
            <a:endParaRPr sz="1400">
              <a:solidFill>
                <a:schemeClr val="accent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AutoNum type="alphaLcPeriod"/>
            </a:pPr>
            <a:r>
              <a:rPr lang="ko-KR" sz="1400">
                <a:solidFill>
                  <a:schemeClr val="accent4"/>
                </a:solidFill>
              </a:rPr>
              <a:t>취업 동향</a:t>
            </a:r>
            <a:endParaRPr sz="1400">
              <a:solidFill>
                <a:schemeClr val="accent4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AutoNum type="alphaLcPeriod"/>
            </a:pPr>
            <a:r>
              <a:rPr lang="ko-KR" sz="1400">
                <a:solidFill>
                  <a:schemeClr val="accent4"/>
                </a:solidFill>
              </a:rPr>
              <a:t>무슨 준비를 해야할까? </a:t>
            </a:r>
            <a:endParaRPr sz="1400">
              <a:solidFill>
                <a:schemeClr val="accent4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AutoNum type="alphaLcPeriod"/>
            </a:pPr>
            <a:r>
              <a:rPr lang="ko-KR" sz="1400">
                <a:solidFill>
                  <a:schemeClr val="accent4"/>
                </a:solidFill>
              </a:rPr>
              <a:t>강의 비하인드</a:t>
            </a:r>
            <a:endParaRPr sz="1400">
              <a:solidFill>
                <a:schemeClr val="accent4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AutoNum type="arabicPeriod"/>
            </a:pPr>
            <a:r>
              <a:rPr lang="ko-KR" sz="1400">
                <a:solidFill>
                  <a:schemeClr val="accent4"/>
                </a:solidFill>
              </a:rPr>
              <a:t>QnA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87" name="Google Shape;87;p13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오늘의 목표: AI</a:t>
            </a:r>
            <a:r>
              <a:rPr lang="ko-KR">
                <a:solidFill>
                  <a:schemeClr val="dk2"/>
                </a:solidFill>
              </a:rPr>
              <a:t>와 함께 성장하기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solidFill>
                <a:srgbClr val="5B52FF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다시 하는 강사 소개: 서영학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290025" y="1096725"/>
            <a:ext cx="8154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1" lang="ko-KR" sz="1600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rPr>
              <a:t>컴공 → </a:t>
            </a:r>
            <a:r>
              <a:rPr b="1" i="0" lang="ko-KR" sz="1600" u="none" cap="none" strike="noStrike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b="1" lang="ko-KR" sz="1600">
                <a:solidFill>
                  <a:srgbClr val="5B52FF"/>
                </a:solidFill>
                <a:latin typeface="Noto Sans KR"/>
                <a:ea typeface="Noto Sans KR"/>
                <a:cs typeface="Noto Sans KR"/>
                <a:sym typeface="Noto Sans KR"/>
              </a:rPr>
              <a:t>부트캠프 → ncsoft (NLP → AI서비스개발(야구/금융) → 계정플랫폼 </a:t>
            </a:r>
            <a:endParaRPr b="0" i="0" sz="1400" u="none" cap="none" strike="noStrike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90025" y="1585149"/>
            <a:ext cx="66615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1" lang="ko-KR" sz="1200">
                <a:latin typeface="Noto Sans KR"/>
                <a:ea typeface="Noto Sans KR"/>
                <a:cs typeface="Noto Sans KR"/>
                <a:sym typeface="Noto Sans KR"/>
              </a:rPr>
              <a:t>모니모니 (26.01~)</a:t>
            </a:r>
            <a:endParaRPr b="1"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엔씨소프트 (18.01~24.12)</a:t>
            </a:r>
            <a:endParaRPr b="1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Char char="●"/>
            </a:pPr>
            <a:r>
              <a:rPr b="1" i="0" lang="ko-KR" sz="1200" u="none" cap="none" strike="noStrike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AI</a:t>
            </a:r>
            <a:r>
              <a:rPr b="1" lang="ko-KR" sz="1200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 Researcher </a:t>
            </a:r>
            <a:r>
              <a:rPr b="1" lang="ko-KR" sz="1200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로 입사</a:t>
            </a: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→ 백엔드 서버 개발자 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Char char="●"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24.01~24.12 : 플랫폼센터 계정 플랫폼 개발팀 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Char char="●"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23.01~23.12 : </a:t>
            </a: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AI</a:t>
            </a: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금융플랫폼 개발팀 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Char char="●"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.01~22.12 : AI 서비스개발실 서버팀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Char char="○"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KBO AI 플랫폼 개발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18.01~18.12 : NLP 센터 플랫폼 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부트캠프 강사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upstage 강원대 부트캠프 (26.01~)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Char char="●"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upstage 새싹프로젝트 CS  part (26.01~)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Char char="●"/>
            </a:pPr>
            <a:r>
              <a:rPr b="0" i="0" lang="ko-KR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멋쟁이사자처럼 백엔드 단기심화 4기 (25.03~06)</a:t>
            </a:r>
            <a:endParaRPr/>
          </a:p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495950" y="1578325"/>
            <a:ext cx="39489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63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latin typeface="Noto Sans KR"/>
                <a:ea typeface="Noto Sans KR"/>
                <a:cs typeface="Noto Sans KR"/>
                <a:sym typeface="Noto Sans KR"/>
              </a:rPr>
              <a:t>기타</a:t>
            </a:r>
            <a:r>
              <a:rPr b="1" lang="ko-KR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23, 24년 실전코딩 Testing 강의, </a:t>
            </a:r>
            <a:br>
              <a:rPr lang="ko-KR" sz="12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22년 실전코딩 백엔드 강의 (충남대)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대학교 알고리즘 동아리 회장 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KR"/>
              <a:buChar char="●"/>
            </a:pPr>
            <a:r>
              <a:rPr b="1" lang="ko-KR" sz="1200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17년 elice 카이스트 머신러닝 부트캠프(AI) </a:t>
            </a:r>
            <a:endParaRPr b="1" sz="1200">
              <a:solidFill>
                <a:schemeClr val="accent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KR"/>
              <a:buChar char="○"/>
            </a:pPr>
            <a:r>
              <a:rPr b="1" lang="ko-KR" sz="1200">
                <a:solidFill>
                  <a:schemeClr val="accent2"/>
                </a:solidFill>
                <a:latin typeface="Noto Sans KR"/>
                <a:ea typeface="Noto Sans KR"/>
                <a:cs typeface="Noto Sans KR"/>
                <a:sym typeface="Noto Sans KR"/>
              </a:rPr>
              <a:t>최우수상</a:t>
            </a:r>
            <a:endParaRPr b="1" sz="1200">
              <a:solidFill>
                <a:schemeClr val="accent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16년 ACM-ICPC 대전 본선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t/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495950" y="3234550"/>
            <a:ext cx="3450900" cy="1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63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ko-KR" sz="1200">
                <a:latin typeface="Noto Sans KR"/>
                <a:ea typeface="Noto Sans KR"/>
                <a:cs typeface="Noto Sans KR"/>
                <a:sym typeface="Noto Sans KR"/>
              </a:rPr>
              <a:t>개인블로그 </a:t>
            </a:r>
            <a:endParaRPr b="1"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inspire12.tistory.com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</a:pPr>
            <a:r>
              <a:rPr lang="ko-KR" sz="1200">
                <a:latin typeface="Noto Sans KR"/>
                <a:ea typeface="Noto Sans KR"/>
                <a:cs typeface="Noto Sans KR"/>
                <a:sym typeface="Noto Sans KR"/>
              </a:rPr>
              <a:t>github.com/inspire12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6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t/>
            </a:r>
            <a:endParaRPr b="1"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298800" y="1105363"/>
            <a:ext cx="8546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7138F"/>
              </a:buClr>
              <a:buSzPts val="2400"/>
              <a:buNone/>
            </a:pPr>
            <a:r>
              <a:rPr lang="ko-KR">
                <a:solidFill>
                  <a:schemeClr val="dk2"/>
                </a:solidFill>
              </a:rPr>
              <a:t>AI는 </a:t>
            </a:r>
            <a:r>
              <a:rPr lang="ko-KR">
                <a:solidFill>
                  <a:schemeClr val="dk2"/>
                </a:solidFill>
              </a:rPr>
              <a:t>현업을 어떻게 바꾸고 있는가?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8" name="Google Shape;108;p15"/>
          <p:cNvSpPr txBox="1"/>
          <p:nvPr>
            <p:ph idx="1" type="subTitle"/>
          </p:nvPr>
        </p:nvSpPr>
        <p:spPr>
          <a:xfrm>
            <a:off x="298800" y="339250"/>
            <a:ext cx="854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01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기술의 발전은 늘 일의 방식을 바꿔왔다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https://www.excellentwebworld.com/ai-assisted-software-development/?utm_source=chatgpt.com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6" name="Google Shape;116;p16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6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5B52FF"/>
                </a:solidFill>
              </a:rPr>
              <a:t>개발자는 기술의 변화를 제일 빠르게 받아들이는 직업</a:t>
            </a:r>
            <a:endParaRPr b="1">
              <a:solidFill>
                <a:srgbClr val="5B52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90025" y="1637100"/>
            <a:ext cx="84891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예전에도 개발자는 새로운 기술에 대한</a:t>
            </a:r>
            <a:r>
              <a:rPr b="1"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 열린 마인드</a:t>
            </a: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와 공부가 필요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더 많이 체감이 되는 것 같다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오픈소스 생태계와 플랫폼 안에서 개발자들은 </a:t>
            </a:r>
            <a:b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자신이 쓰는 도구에 대해 자신의 의견을 제시, 창조할 수 있다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장인은 도구 탓을 하지 않는다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= 장인은 도구를 직접 만들 수 있다 + 공유 → 오픈소스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</a:t>
            </a:r>
            <a:r>
              <a:rPr lang="ko-KR"/>
              <a:t>일의 방식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275" y="1359652"/>
            <a:ext cx="2716876" cy="27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2"/>
                </a:solidFill>
              </a:rPr>
              <a:t>프로세스(=섬) 안에서 역할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8" name="Google Shape;128;p17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7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KnowHow → KnowWhere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공부할 양에 질려버리면 안된다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하나를 우선 알고 사용하다 보면 도구에 대한 역할을 이해하게 된다 (bottom-up 방식)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083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개발환경과 도구에 대한 사용법을 익히면 </a:t>
            </a:r>
            <a:b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그 카테고리와 workflow 에 대해 이해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083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것들을 받아들이는 속도가 빨라진다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기존의 개발환경에 단점을 보완하기 위해,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혹은 새로운 워크플로우를 제안하는 도구들이 수없이 출시 중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 중 몇 개가 공감대를 얻어 채택된다 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도구들을 </a:t>
            </a: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장난감을 다뤄보듯 </a:t>
            </a: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사용해보는 습관이 필요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ex) docker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17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030" y="2322825"/>
            <a:ext cx="3582170" cy="238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38" name="Google Shape;138;p18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2"/>
                </a:solidFill>
              </a:rPr>
              <a:t>진로별 준비할 것들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40" name="Google Shape;140;p18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각 직군별 사용하는 도구와 개념의 로드맵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각 직군이 뭐가 있지?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18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588" y="1991388"/>
            <a:ext cx="2766476" cy="23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500" y="1492963"/>
            <a:ext cx="1792816" cy="14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3747" y="1492978"/>
            <a:ext cx="1677154" cy="143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0502" y="3115450"/>
            <a:ext cx="1826090" cy="143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하지만 최근 변화 속도는 너무 빠르다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https://aisparkup.com/posts/401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9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AI 코딩이 도입된 건 불과 반년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290025" y="1637100"/>
            <a:ext cx="84891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Google Shape;158;p19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750" y="1620775"/>
            <a:ext cx="4978492" cy="308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65" name="Google Shape;165;p20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(현재) </a:t>
            </a:r>
            <a:r>
              <a:rPr lang="ko-KR">
                <a:solidFill>
                  <a:schemeClr val="dk2"/>
                </a:solidFill>
              </a:rPr>
              <a:t>AI 에이전트의 등장으로 바뀐 개발 환경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AI 에이전트</a:t>
            </a:r>
            <a:r>
              <a:rPr b="1" lang="ko-KR">
                <a:solidFill>
                  <a:srgbClr val="5B52FF"/>
                </a:solidFill>
              </a:rPr>
              <a:t>와</a:t>
            </a:r>
            <a:r>
              <a:rPr b="1" lang="ko-KR">
                <a:solidFill>
                  <a:srgbClr val="5B52FF"/>
                </a:solidFill>
              </a:rPr>
              <a:t> AI 코딩 = </a:t>
            </a:r>
            <a:r>
              <a:rPr b="1" lang="ko-KR">
                <a:solidFill>
                  <a:srgbClr val="5B52FF"/>
                </a:solidFill>
              </a:rPr>
              <a:t>동료로서 AI</a:t>
            </a:r>
            <a:r>
              <a:rPr b="1" lang="ko-KR">
                <a:solidFill>
                  <a:srgbClr val="5B52FF"/>
                </a:solidFill>
              </a:rPr>
              <a:t>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298800" y="1608600"/>
            <a:ext cx="72852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-KR"/>
              <a:t>현장에서 체감되는 </a:t>
            </a:r>
            <a:r>
              <a:rPr lang="ko-KR"/>
              <a:t>AI의 역할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ko-KR"/>
              <a:t>실제로 양질의 코드를 만들어주는 AI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/>
              <a:t>AI는 보조가 아닌 주체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/>
              <a:t>개발자는 코딩 보다 AI가 만들어진 Pull Request를 리뷰하는데 시간을 쓴다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/>
              <a:t>모든 개발자가 시니어 개발자, CTO 처럼 일하게 된다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ko-KR"/>
            </a:br>
            <a:r>
              <a:rPr lang="ko-KR"/>
              <a:t>불과 반년전에 시니어 개발자에게 요구되던 덕목들이 여러분들을 평가하는 기준이 될 것이다</a:t>
            </a:r>
            <a:br>
              <a:rPr lang="ko-KR"/>
            </a:br>
            <a:r>
              <a:rPr lang="ko-KR"/>
              <a:t>→</a:t>
            </a:r>
            <a:r>
              <a:rPr lang="ko-KR"/>
              <a:t> </a:t>
            </a:r>
            <a:r>
              <a:rPr lang="ko-KR"/>
              <a:t>여러분들도 면접에서 받게될 질문 / 회사에 취업 후 할 일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20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모든 개발자는 시니어 개발자처럼 일해야한다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https://news.hada.io/topic?id=25574&amp;utm_source=slack&amp;utm_medium=bot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78" name="Google Shape;178;p21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1"/>
          <p:cNvSpPr txBox="1"/>
          <p:nvPr>
            <p:ph idx="2" type="body"/>
          </p:nvPr>
        </p:nvSpPr>
        <p:spPr>
          <a:xfrm>
            <a:off x="298800" y="1202400"/>
            <a:ext cx="3257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5B52FF"/>
                </a:solidFill>
              </a:rPr>
              <a:t>현재 주니어 개발자의 역할이 대</a:t>
            </a:r>
            <a:r>
              <a:rPr b="1" lang="ko-KR">
                <a:solidFill>
                  <a:srgbClr val="5B52FF"/>
                </a:solidFill>
              </a:rPr>
              <a:t>체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290025" y="1637100"/>
            <a:ext cx="46290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 sz="1300"/>
              <a:t>서비스를 만드는 전체 프로세스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-KR" sz="1300"/>
              <a:t>코딩과 구현 기술은 개발의 일부이지 개발의 전부는 아니다.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 sz="1300"/>
              <a:t>프로세스 내에서 손이 많이가던 귀찮은 일들이 편해진다</a:t>
            </a:r>
            <a:endParaRPr sz="1300"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-KR" sz="1300"/>
              <a:t>검증, 코드리뷰, 테스팅, 단순 개발, 반복 등 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혼자 모든 프로세스를 “</a:t>
            </a:r>
            <a:r>
              <a:rPr b="1" lang="ko-KR" sz="1300"/>
              <a:t>감독</a:t>
            </a:r>
            <a:r>
              <a:rPr lang="ko-KR" sz="1300"/>
              <a:t>”할 수 있게 된다 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개발자는 더 중요한 일, 본질에 집중할 수 있게 된다 </a:t>
            </a:r>
            <a:endParaRPr sz="1300"/>
          </a:p>
        </p:txBody>
      </p:sp>
      <p:sp>
        <p:nvSpPr>
          <p:cNvPr id="181" name="Google Shape;181;p21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61638"/>
            <a:ext cx="4372750" cy="3443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88" name="Google Shape;188;p22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2"/>
                </a:solidFill>
              </a:rPr>
              <a:t>코드 리뷰는 아직 필요하다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https://brunch.co.kr/@mbook/21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0" name="Google Shape;190;p22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2"/>
          <p:cNvSpPr txBox="1"/>
          <p:nvPr>
            <p:ph idx="2" type="body"/>
          </p:nvPr>
        </p:nvSpPr>
        <p:spPr>
          <a:xfrm>
            <a:off x="298800" y="1202400"/>
            <a:ext cx="3257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5B52FF"/>
                </a:solidFill>
              </a:rPr>
              <a:t>AI는 책임을 지지 않는다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290025" y="1637100"/>
            <a:ext cx="34458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일을 하는 방식/프로세스를 이해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협업하는 프로세스를 경험해야한다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그 협업의 대상이 AI로 변화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AI에게 제약을 주고 올바른 방향(plan)을 세우는 일 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로직 검증 &gt;&gt; 가독성, 컨벤션 &gt; 최적화</a:t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469" y="1353925"/>
            <a:ext cx="5264531" cy="2621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/>
        </p:nvSpPr>
        <p:spPr>
          <a:xfrm>
            <a:off x="298800" y="1608600"/>
            <a:ext cx="72852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3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01" name="Google Shape;201;p23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AI 코딩과 기존 코딩과 생각 과정 차이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https://chrisloy.dev/post/2025/09/28/the-ai-coding-trap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03" name="Google Shape;203;p23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23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개발자들의 관점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05" name="Google Shape;205;p23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74" y="1563573"/>
            <a:ext cx="5800213" cy="1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785" y="3031963"/>
            <a:ext cx="5800226" cy="117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/>
        </p:nvSpPr>
        <p:spPr>
          <a:xfrm>
            <a:off x="298800" y="1608600"/>
            <a:ext cx="72852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 u="sng">
                <a:solidFill>
                  <a:schemeClr val="hlink"/>
                </a:solidFill>
                <a:hlinkClick r:id="rId3"/>
              </a:rPr>
              <a:t>zero cho</a:t>
            </a:r>
            <a:r>
              <a:rPr lang="ko-KR"/>
              <a:t> / </a:t>
            </a:r>
            <a:r>
              <a:rPr lang="ko-KR" u="sng">
                <a:solidFill>
                  <a:schemeClr val="hlink"/>
                </a:solidFill>
                <a:hlinkClick r:id="rId4"/>
              </a:rPr>
              <a:t>관련 영상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/>
              <a:t>코드를 짜면서 생각하는 과정, 다른 레퍼런스들을 찾아보고 모르는것들은 검색하고 공부하며 알아가던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/>
              <a:t>과정이 사라지고 모든게 프롬프트+검수 정도로만 이뤄지니 너무 재미가 없네요.</a:t>
            </a:r>
            <a:br>
              <a:rPr lang="ko-KR"/>
            </a:b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 u="sng">
                <a:solidFill>
                  <a:schemeClr val="hlink"/>
                </a:solidFill>
                <a:hlinkClick r:id="rId5"/>
              </a:rPr>
              <a:t>k</a:t>
            </a:r>
            <a:r>
              <a:rPr lang="ko-KR" u="sng">
                <a:solidFill>
                  <a:schemeClr val="hlink"/>
                </a:solidFill>
                <a:hlinkClick r:id="rId6"/>
              </a:rPr>
              <a:t>리그개발자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111111"/>
                </a:solidFill>
                <a:highlight>
                  <a:srgbClr val="FDFDFD"/>
                </a:highlight>
                <a:latin typeface="Noto Sans KR"/>
                <a:ea typeface="Noto Sans KR"/>
                <a:cs typeface="Noto Sans KR"/>
                <a:sym typeface="Noto Sans KR"/>
              </a:rPr>
              <a:t>그런데 진짜 그런 엄청난 세상이 와버렸습니다.</a:t>
            </a:r>
            <a:br>
              <a:rPr lang="ko-KR" sz="1200">
                <a:solidFill>
                  <a:srgbClr val="111111"/>
                </a:solidFill>
                <a:highlight>
                  <a:srgbClr val="FDFDFD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200">
                <a:solidFill>
                  <a:srgbClr val="111111"/>
                </a:solidFill>
                <a:highlight>
                  <a:srgbClr val="FDFDFD"/>
                </a:highlight>
                <a:latin typeface="Noto Sans KR"/>
                <a:ea typeface="Noto Sans KR"/>
                <a:cs typeface="Noto Sans KR"/>
                <a:sym typeface="Noto Sans KR"/>
              </a:rPr>
              <a:t>회사에서 여러 사람들이 모여 매일 야근하고 한땀한땀 코딩하던 시절이 진짜 있었나?</a:t>
            </a:r>
            <a:br>
              <a:rPr lang="ko-KR" sz="1200">
                <a:solidFill>
                  <a:srgbClr val="111111"/>
                </a:solidFill>
                <a:highlight>
                  <a:srgbClr val="FDFDFD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 sz="1200">
                <a:solidFill>
                  <a:srgbClr val="111111"/>
                </a:solidFill>
                <a:highlight>
                  <a:srgbClr val="FDFDFD"/>
                </a:highlight>
                <a:latin typeface="Noto Sans KR"/>
                <a:ea typeface="Noto Sans KR"/>
                <a:cs typeface="Noto Sans KR"/>
                <a:sym typeface="Noto Sans KR"/>
              </a:rPr>
              <a:t>바로 몇 년 전 일인데 90년대 이야기 아닌가 싶을 정도로 아득하게 느껴집니다.</a:t>
            </a:r>
            <a:endParaRPr sz="1200">
              <a:solidFill>
                <a:srgbClr val="111111"/>
              </a:solidFill>
              <a:highlight>
                <a:srgbClr val="FDFDFD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3" name="Google Shape;213;p24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14" name="Google Shape;214;p24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AI 를 통한 생산성 향상 이후 기존 개발자들의 의견 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16" name="Google Shape;216;p24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24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코드를 짜는 재미, 과정의 재미가 사라졌다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18" name="Google Shape;218;p24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/>
        </p:nvSpPr>
        <p:spPr>
          <a:xfrm>
            <a:off x="298800" y="1608600"/>
            <a:ext cx="72852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 u="sng">
                <a:solidFill>
                  <a:schemeClr val="hlink"/>
                </a:solidFill>
                <a:hlinkClick r:id="rId3"/>
              </a:rPr>
              <a:t>웹 개발이 다시 재밌어지다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4" name="Google Shape;224;p25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25" name="Google Shape;225;p25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AI 를 통한 생산성 향상 </a:t>
            </a:r>
            <a:r>
              <a:rPr lang="ko-KR">
                <a:solidFill>
                  <a:schemeClr val="dk2"/>
                </a:solidFill>
              </a:rPr>
              <a:t>이후 기존 개발자들의 의견 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27" name="Google Shape;227;p25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5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개발 전 과정을 개발자가 컨트롤 할 수 있게 되었다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29" name="Google Shape;229;p25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025" y="2078625"/>
            <a:ext cx="4706837" cy="18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8400" y="1221075"/>
            <a:ext cx="3238801" cy="323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37" name="Google Shape;237;p26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회사에서 AI 도입한 후기들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https://brunch.co.kr/@mbook/21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39" name="Google Shape;239;p26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26"/>
          <p:cNvSpPr txBox="1"/>
          <p:nvPr>
            <p:ph idx="2" type="body"/>
          </p:nvPr>
        </p:nvSpPr>
        <p:spPr>
          <a:xfrm>
            <a:off x="298800" y="1202400"/>
            <a:ext cx="6457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5B52FF"/>
                </a:solidFill>
              </a:rPr>
              <a:t>어떤 관점과 목표를 위해 도입하고 있나?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290025" y="1637100"/>
            <a:ext cx="67368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카카오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u="sng">
                <a:solidFill>
                  <a:schemeClr val="hlink"/>
                </a:solidFill>
                <a:hlinkClick r:id="rId3"/>
              </a:rPr>
              <a:t>실시간 코드 리뷰 및 품질 관리: AI 도입의 필요성과 기대 효과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SK 데보션 </a:t>
            </a:r>
            <a:endParaRPr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-KR" u="sng">
                <a:solidFill>
                  <a:schemeClr val="hlink"/>
                </a:solidFill>
                <a:hlinkClick r:id="rId4"/>
              </a:rPr>
              <a:t>조직에서 AI 코딩 솔루션 도입, 어떻게 시작할까?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/>
              <a:t>컬리</a:t>
            </a:r>
            <a:endParaRPr sz="1300"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-KR" sz="1300"/>
              <a:t> </a:t>
            </a:r>
            <a:r>
              <a:rPr lang="ko-KR" sz="1300" u="sng">
                <a:solidFill>
                  <a:schemeClr val="hlink"/>
                </a:solidFill>
                <a:hlinkClick r:id="rId5"/>
              </a:rPr>
              <a:t>OMS에서 Claude AI를 활용하여 변화된 업무 방식</a:t>
            </a:r>
            <a:endParaRPr sz="1300"/>
          </a:p>
        </p:txBody>
      </p:sp>
      <p:sp>
        <p:nvSpPr>
          <p:cNvPr id="242" name="Google Shape;242;p26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일의 방식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27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49" name="Google Shape;249;p27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AI 코딩 이후의 맹점 1: </a:t>
            </a:r>
            <a:r>
              <a:rPr lang="ko-KR">
                <a:solidFill>
                  <a:schemeClr val="dk2"/>
                </a:solidFill>
              </a:rPr>
              <a:t>고급 인력 파이프라인 절단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https://news.hada.io/topic?id=23573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51" name="Google Shape;251;p27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27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시니어는 뚝딱 만들어지지 않는다..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254" name="Google Shape;2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25" y="1638650"/>
            <a:ext cx="6167050" cy="269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tailwind 엔지니어 75% 해고 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검색이 아닌 AI 답변 중심 생태계에서는 </a:t>
            </a:r>
            <a:b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“문서 페이지” 자체 트래픽이 감소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이후 구글, 러버블 등 프로젝트 후원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오픈소스 + AI 시대의 생존 전략과 </a:t>
            </a:r>
            <a:b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커뮤니티 생태계의 변화를 보여주는 상징적 사례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28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61" name="Google Shape;261;p28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AI 코딩 이후의 맹점 2: </a:t>
            </a:r>
            <a:r>
              <a:rPr lang="ko-KR">
                <a:solidFill>
                  <a:schemeClr val="dk2"/>
                </a:solidFill>
              </a:rPr>
              <a:t>수익 모델 붕괴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2" name="Google Shape;262;p28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https://github.com/tailwindlabs/tailwindcss.com/pull/2388#issuecomment-3717222957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63" name="Google Shape;263;p28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8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붕괴되는 오픈소스 수익 파이프라인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65" name="Google Shape;265;p28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266" name="Google Shape;2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5675" y="1083350"/>
            <a:ext cx="3469324" cy="263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72" name="Google Shape;272;p29"/>
          <p:cNvSpPr txBox="1"/>
          <p:nvPr>
            <p:ph type="title"/>
          </p:nvPr>
        </p:nvSpPr>
        <p:spPr>
          <a:xfrm>
            <a:off x="298800" y="1105363"/>
            <a:ext cx="8546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7138F"/>
              </a:buClr>
              <a:buSzPts val="2400"/>
              <a:buNone/>
            </a:pPr>
            <a:r>
              <a:rPr lang="ko-KR">
                <a:solidFill>
                  <a:schemeClr val="dk2"/>
                </a:solidFill>
              </a:rPr>
              <a:t>진로: 취업 / 창업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3" name="Google Shape;273;p29"/>
          <p:cNvSpPr txBox="1"/>
          <p:nvPr>
            <p:ph idx="1" type="subTitle"/>
          </p:nvPr>
        </p:nvSpPr>
        <p:spPr>
          <a:xfrm>
            <a:off x="298800" y="339250"/>
            <a:ext cx="854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74" name="Google Shape;274;p29"/>
          <p:cNvSpPr txBox="1"/>
          <p:nvPr>
            <p:ph idx="2" type="body"/>
          </p:nvPr>
        </p:nvSpPr>
        <p:spPr>
          <a:xfrm>
            <a:off x="298800" y="2747225"/>
            <a:ext cx="8546400" cy="19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>
                <a:solidFill>
                  <a:schemeClr val="accent4"/>
                </a:solidFill>
              </a:rPr>
              <a:t>내가 다시 신입으로 취업을 해야한다면</a:t>
            </a:r>
            <a:endParaRPr>
              <a:solidFill>
                <a:schemeClr val="accent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Char char="-"/>
            </a:pPr>
            <a:r>
              <a:rPr lang="ko-KR">
                <a:solidFill>
                  <a:schemeClr val="accent4"/>
                </a:solidFill>
              </a:rPr>
              <a:t>준비 과정과 마인드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accent4"/>
                </a:solidFill>
              </a:rPr>
              <a:t>AI &amp; 개발자 분야 취업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불안과 초조 vs 성장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운의 요소가 크게 작용된다..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내가 취업한 상황과 여러 분의 상황은 다르다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 분야를 이야기하는 게 조금 조심스러운게 사실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1년 뒤, 1년 뒤가 바뀌어있어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0" name="Google Shape;280;p30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81" name="Google Shape;281;p30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진로라는 것..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2" name="Google Shape;282;p30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83" name="Google Shape;283;p30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30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어두운 길에 네비게이션을 찍고 도착을 기대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85" name="Google Shape;285;p30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250" y="1550650"/>
            <a:ext cx="3871942" cy="25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92" name="Google Shape;292;p31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주변 사람을 개발자로 바꾸기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94" name="Google Shape;294;p31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31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개발자는 성향이 맞아야한다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스터디 모집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공부를 하고자 하는 사람과 함께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목적을 가진 단기 스터디 → 그 안에서 새로운 스터디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○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ex) 개발 책 스터디 → 취업 이력서/면접 스터디 → 창업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얻게 되는 정보와 도움들이 다르다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부트 캠프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개발자 모임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7" name="Google Shape;297;p31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03" name="Google Shape;303;p32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잘하는 사람들의 코드를 읽어보기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4" name="Google Shape;304;p32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05" name="Google Shape;305;p32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32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오픈소스 + AI 를 통한 분석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07" name="Google Shape;307;p32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주변에 코딩을 잘하는 사람 (멘토)가 있다면 좋겠지만, 현실적으로 힘들다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규모가 있는 오픈소스는 커뮤니티 / Discussion / Issue  등 협업 채널이 잘되어있다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이런 식으로도 코드를 짜는구나, 좋은 코드가 무엇인가, 틀을 깨는 사고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내가 쓰는 기능은 이렇게 구현되고 있구나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 정도는 나도 기여할 수 있겠는데 + 이런 기능을 추가하면 어떨까?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AI를 통해 코드를 이해하는 과정이 쉬워졌다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p32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14" name="Google Shape;314;p33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채용 공고에서 공부할 키워드 얻기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16" name="Google Shape;316;p33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33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무엇을 공부해야하나? 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회사(도메인별/규모별)에선 어떤 도구를 사용하고 있을까 + 왜 이 도구를 사용하고 있을까?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 u="sng">
                <a:solidFill>
                  <a:schemeClr val="hlink"/>
                </a:solidFill>
                <a:latin typeface="Noto Sans KR"/>
                <a:ea typeface="Noto Sans KR"/>
                <a:cs typeface="Noto Sans KR"/>
                <a:sym typeface="Noto Sans KR"/>
                <a:hlinkClick r:id="rId3"/>
              </a:rPr>
              <a:t>https://zighang.com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내가 가고 싶은 회사 채용 사이트 확인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+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ex) 당근 마켓 + 채용 + (직책)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+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채용 공고를 캡처 후 저장 (기간이 지나면 사라짐)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9" name="Google Shape;319;p33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25" name="Google Shape;325;p34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채용 프로세스와 준비할 점 점검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6" name="Google Shape;326;p34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강남언니 채용 프로세스 중 발췌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27" name="Google Shape;327;p34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34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5B52FF"/>
                </a:solidFill>
              </a:rPr>
              <a:t>회사의 채용 프로세스와 회사에 가기 위한 준비 / 키워드 / 실력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29" name="Google Shape;329;p34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0" name="Google Shape;330;p34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331" name="Google Shape;3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99" y="1637099"/>
            <a:ext cx="7726508" cy="13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747" y="2924409"/>
            <a:ext cx="6132298" cy="13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작은 것부터 쌓기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부트 캠프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공모전 / 해커톤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블로그에 글쓰기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개인 앱 제작 및 홍보 등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최근 취업한 사람 / 잘 하는 사람의 이력서 읽어보기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이정도는 해야 취업할 수 있구나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생각보다 더 알아야 되는구나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35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39" name="Google Shape;339;p35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서류 지원 = 이력서를 작성하는 과정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0" name="Google Shape;340;p35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41" name="Google Shape;341;p35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35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난 뭐했지? .. 왜캐 부족해보이지?  </a:t>
            </a:r>
            <a:r>
              <a:rPr b="1" lang="ko-KR">
                <a:solidFill>
                  <a:srgbClr val="5B52FF"/>
                </a:solidFill>
              </a:rPr>
              <a:t>자괴감과의 싸움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43" name="Google Shape;343;p35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첫 장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이름 + 한 줄 요약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소개: 경험 업무 스타일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커리어 요약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할 수 있는 스킬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둘 째 장부터는 실제 프로젝트 진행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작업, 작업 중 이슈와 해결 등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해결을 위해 고민한 흔적이 있어야한다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9" name="Google Shape;349;p36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50" name="Google Shape;350;p36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이력서 작성하기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1" name="Google Shape;351;p36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52" name="Google Shape;352;p36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36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ex) 개발자 이력서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54" name="Google Shape;354;p36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355" name="Google Shape;3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225" y="453598"/>
            <a:ext cx="3193359" cy="448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코딩 테스트 = 똑똑한 사람을 뽑겠다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AI가 잘하는 영역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유형이 생기는 경향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과제테스트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작년 초부터 과제테스트 퀄리티가 상향 평준화 → 변별력을 찾기가 쉽지 않아짐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시험 기간동안 감시를한다? 현실적인 우회 방법이 너무 많다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1" name="Google Shape;361;p37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62" name="Google Shape;362;p37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코딩 테스트 / 과제 테스트 / 코드 리뷰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3" name="Google Shape;363;p37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64" name="Google Shape;364;p37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37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현장에서 고민, 변별력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66" name="Google Shape;366;p37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2" name="Google Shape;372;p38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73" name="Google Shape;373;p38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코드 리뷰</a:t>
            </a:r>
            <a:r>
              <a:rPr lang="ko-KR">
                <a:solidFill>
                  <a:schemeClr val="dk2"/>
                </a:solidFill>
              </a:rPr>
              <a:t>로 과제 테스트를 대체?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4" name="Google Shape;374;p38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https://blog.gangnamunni.com/post/code-review-test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75" name="Google Shape;375;p38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38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아직 대세는 아니지만, 충분히 변별력이 생길 만한 과정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77" name="Google Shape;377;p38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378" name="Google Shape;37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225" y="1646351"/>
            <a:ext cx="4857154" cy="2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기술을 설명해보기 / 기술에 대한  </a:t>
            </a: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내 생각을 이야기해보기, 기술 블로그 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면접 스터디 + 녹화, 스크립트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면접 관련 책 (면접 노트) / 면접 후기 읽기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면접 질문 진행해보기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소프트스킬에 대한 생각 적어보기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회사 인재상 등 읽어보기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39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85" name="Google Shape;385;p39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기술 면접 / 코드 리뷰 / 컬처 면접		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6" name="Google Shape;386;p39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87" name="Google Shape;387;p39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39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연습이 필요하다 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389" name="Google Shape;389;p39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0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맥락을 이해하려는 태도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기술은 프레임워크 단에서 구현, 오히려 비즈니스에 대한 이해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 코드는 어떤 흐름에 들어가는가?  단순 구현보다 의도 파악 능력 (전술을 이해하려는 태도)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코드 리뷰를 받을 준비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리뷰를 방어하지 않음 = 지적을 개인 평가로 받아들이지 않음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질문을 잘 하는 능력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막연한 질문 ❌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시도한 것 + 막힌 지점 + 가설을 포함한 질문 ⭕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16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ct val="1000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혼자 전부 해결하는 게 아니라 진행 과정에 대한 올바론 접근 방법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기술에 대한 열린 마인드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857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5" name="Google Shape;395;p40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96" name="Google Shape;396;p40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채용은 사람과 하는 일, 나는 나와 같이 일하고 싶은가?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7" name="Google Shape;397;p40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98" name="Google Shape;398;p40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40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같이 일하고 싶은 사람 + 키울 맛이 나는 사람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400" name="Google Shape;400;p40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06" name="Google Shape;406;p41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현실적인 부트 캠프가 제공하는 것과 기대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7" name="Google Shape;407;p41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08" name="Google Shape;408;p41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p41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개발자로 성장할 수 있는 환경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큰 부분은 </a:t>
            </a:r>
            <a:r>
              <a:rPr b="1"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개발자 동료</a:t>
            </a:r>
            <a:endParaRPr b="1"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정보를 얻는 것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모티베이션을 얻는 것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팀 프로젝트 &amp; 협업 경험 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팀 프로젝트 지원 (인프라 - aws + 강사/멘토)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같이 일하는 경험 - 코딩을 못해도 할 수 있는 역할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Noto Sans KR"/>
              <a:buChar char="●"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경험 - 다양한 도구와 카테고리 경험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코스 이후 취업 기회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b="1"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이력서</a:t>
            </a: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 &amp; 경험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1" name="Google Shape;411;p41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17" name="Google Shape;417;p42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수업 비하인드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600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https://zighang.com</a:t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19" name="Google Shape;419;p42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42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왜 이렇게 강의를 만드셨나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421" name="Google Shape;421;p42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- 온라인 괴리 &amp; 시행 착오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타겟팅된 수강생과 너무 넓은 스펙트럼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변화하는 과도기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강사 개인의 경험 &amp; 괴리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2" name="Google Shape;422;p42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내가 다시 신입으로 취업을 해야한다면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423" name="Google Shape;42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829" y="1359500"/>
            <a:ext cx="2415769" cy="269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3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29" name="Google Shape;429;p43"/>
          <p:cNvSpPr txBox="1"/>
          <p:nvPr>
            <p:ph type="title"/>
          </p:nvPr>
        </p:nvSpPr>
        <p:spPr>
          <a:xfrm>
            <a:off x="298800" y="1105363"/>
            <a:ext cx="85464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7138F"/>
              </a:buClr>
              <a:buSzPts val="2400"/>
              <a:buNone/>
            </a:pPr>
            <a:r>
              <a:rPr lang="ko-KR">
                <a:solidFill>
                  <a:schemeClr val="dk2"/>
                </a:solidFill>
              </a:rPr>
              <a:t>AI와 함께 코딩/공부 하기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0" name="Google Shape;430;p43"/>
          <p:cNvSpPr txBox="1"/>
          <p:nvPr>
            <p:ph idx="1" type="subTitle"/>
          </p:nvPr>
        </p:nvSpPr>
        <p:spPr>
          <a:xfrm>
            <a:off x="298800" y="339250"/>
            <a:ext cx="854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431" name="Google Shape;431;p43"/>
          <p:cNvSpPr txBox="1"/>
          <p:nvPr>
            <p:ph idx="2" type="body"/>
          </p:nvPr>
        </p:nvSpPr>
        <p:spPr>
          <a:xfrm>
            <a:off x="298800" y="2747225"/>
            <a:ext cx="8546400" cy="19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ko-KR">
                <a:solidFill>
                  <a:schemeClr val="accent4"/>
                </a:solidFill>
              </a:rPr>
              <a:t>다음 시간에 이야기할 주제 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4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37" name="Google Shape;437;p44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AI 가 잘해주는 것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8" name="Google Shape;438;p44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39" name="Google Shape;439;p44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44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AI 코딩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441" name="Google Shape;441;p44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사람의 손이 필요한 레벨 vs 필요없는 레벨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도구에 열린, 도구를 더 활용하는 건 </a:t>
            </a:r>
            <a:b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오히려 주니어개발자가 더 잘 열려있다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2" name="Google Shape;442;p44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</a:t>
            </a:r>
            <a:r>
              <a:rPr lang="ko-KR"/>
              <a:t>함께 성장하기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443" name="Google Shape;44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829" y="609675"/>
            <a:ext cx="4313072" cy="423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5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49" name="Google Shape;449;p45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현장을 모르는 관리자는 한계가 있다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0" name="Google Shape;450;p45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51" name="Google Shape;451;p45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45"/>
          <p:cNvSpPr txBox="1"/>
          <p:nvPr>
            <p:ph idx="2" type="body"/>
          </p:nvPr>
        </p:nvSpPr>
        <p:spPr>
          <a:xfrm>
            <a:off x="298800" y="1202400"/>
            <a:ext cx="643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코딩은 정말 쓸데 없나?</a:t>
            </a:r>
            <a:endParaRPr b="1">
              <a:solidFill>
                <a:srgbClr val="5B52FF"/>
              </a:solidFill>
            </a:endParaRPr>
          </a:p>
        </p:txBody>
      </p:sp>
      <p:sp>
        <p:nvSpPr>
          <p:cNvPr id="453" name="Google Shape;453;p45"/>
          <p:cNvSpPr txBox="1"/>
          <p:nvPr/>
        </p:nvSpPr>
        <p:spPr>
          <a:xfrm>
            <a:off x="290025" y="1637100"/>
            <a:ext cx="8853900" cy="2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탁상 공론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개발은 사실 현장직에 더 가깝다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개발을 못해도 </a:t>
            </a:r>
            <a:r>
              <a:rPr lang="ko-KR">
                <a:solidFill>
                  <a:srgbClr val="303030"/>
                </a:solidFill>
                <a:latin typeface="Noto Sans KR"/>
                <a:ea typeface="Noto Sans KR"/>
                <a:cs typeface="Noto Sans KR"/>
                <a:sym typeface="Noto Sans KR"/>
              </a:rPr>
              <a:t>"데이터"는 볼 줄 알아야한다  </a:t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KR"/>
              <a:buNone/>
            </a:pPr>
            <a:r>
              <a:t/>
            </a:r>
            <a:endParaRPr>
              <a:solidFill>
                <a:srgbClr val="30303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4" name="Google Shape;454;p45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AI와 함께 성장하기</a:t>
            </a:r>
            <a:endParaRPr sz="1200">
              <a:solidFill>
                <a:srgbClr val="5B52FF"/>
              </a:solidFill>
            </a:endParaRPr>
          </a:p>
        </p:txBody>
      </p:sp>
      <p:pic>
        <p:nvPicPr>
          <p:cNvPr id="455" name="Google Shape;45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611" y="1202398"/>
            <a:ext cx="3624776" cy="22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7900" y="1338850"/>
            <a:ext cx="3409299" cy="340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62" name="Google Shape;462;p46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ko-KR">
                <a:solidFill>
                  <a:schemeClr val="dk2"/>
                </a:solidFill>
              </a:rPr>
              <a:t>총 정리</a:t>
            </a:r>
            <a:endParaRPr/>
          </a:p>
        </p:txBody>
      </p:sp>
      <p:sp>
        <p:nvSpPr>
          <p:cNvPr id="463" name="Google Shape;463;p46"/>
          <p:cNvSpPr txBox="1"/>
          <p:nvPr>
            <p:ph idx="1" type="subTitle"/>
          </p:nvPr>
        </p:nvSpPr>
        <p:spPr>
          <a:xfrm>
            <a:off x="298800" y="133200"/>
            <a:ext cx="85464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/>
              <a:t>Github</a:t>
            </a:r>
            <a:endParaRPr/>
          </a:p>
        </p:txBody>
      </p:sp>
      <p:sp>
        <p:nvSpPr>
          <p:cNvPr id="464" name="Google Shape;464;p46"/>
          <p:cNvSpPr txBox="1"/>
          <p:nvPr>
            <p:ph idx="2" type="body"/>
          </p:nvPr>
        </p:nvSpPr>
        <p:spPr>
          <a:xfrm>
            <a:off x="298800" y="1202400"/>
            <a:ext cx="8546400" cy="3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rgbClr val="5B52FF"/>
                </a:solidFill>
              </a:rPr>
              <a:t>일하는 방법(프로세스)를 이해 하자 </a:t>
            </a:r>
            <a:endParaRPr b="1">
              <a:solidFill>
                <a:srgbClr val="5B52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chemeClr val="accent4"/>
                </a:solidFill>
              </a:rPr>
              <a:t>AI는 현업을 어떻게 바꾸고 있는가?</a:t>
            </a:r>
            <a:endParaRPr b="1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>
                <a:solidFill>
                  <a:schemeClr val="accent4"/>
                </a:solidFill>
              </a:rPr>
              <a:t>- </a:t>
            </a:r>
            <a:r>
              <a:rPr lang="ko-KR">
                <a:solidFill>
                  <a:schemeClr val="accent4"/>
                </a:solidFill>
              </a:rPr>
              <a:t>미래가 아니라 현재, 실제 코딩보다 리뷰 위주의 작업 방식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>
                <a:solidFill>
                  <a:schemeClr val="accent4"/>
                </a:solidFill>
              </a:rPr>
              <a:t>- </a:t>
            </a:r>
            <a:r>
              <a:rPr b="1" lang="ko-KR">
                <a:solidFill>
                  <a:schemeClr val="accent4"/>
                </a:solidFill>
              </a:rPr>
              <a:t>한 명의 개발자가 할 수 있는 것들이 많아졌다 </a:t>
            </a:r>
            <a:endParaRPr b="1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chemeClr val="accent4"/>
                </a:solidFill>
              </a:rPr>
              <a:t>진로: 어떻게 준비해야하나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>
                <a:solidFill>
                  <a:schemeClr val="accent4"/>
                </a:solidFill>
              </a:rPr>
              <a:t>- </a:t>
            </a:r>
            <a:r>
              <a:rPr lang="ko-KR">
                <a:solidFill>
                  <a:schemeClr val="accent4"/>
                </a:solidFill>
              </a:rPr>
              <a:t>일에 변화에 따른 채용 시장 변화 - 과도기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ko-KR">
                <a:solidFill>
                  <a:schemeClr val="accent4"/>
                </a:solidFill>
              </a:rPr>
              <a:t>- 시장을 보면서 준비 방법을 생각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ko-KR">
                <a:solidFill>
                  <a:schemeClr val="accent4"/>
                </a:solidFill>
              </a:rPr>
              <a:t> 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465" name="Google Shape;465;p46"/>
          <p:cNvSpPr txBox="1"/>
          <p:nvPr/>
        </p:nvSpPr>
        <p:spPr>
          <a:xfrm>
            <a:off x="298800" y="4774675"/>
            <a:ext cx="8240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66" name="Google Shape;466;p46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7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72" name="Google Shape;472;p47"/>
          <p:cNvSpPr txBox="1"/>
          <p:nvPr>
            <p:ph type="title"/>
          </p:nvPr>
        </p:nvSpPr>
        <p:spPr>
          <a:xfrm>
            <a:off x="298800" y="1105363"/>
            <a:ext cx="8546400" cy="6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2"/>
                </a:solidFill>
              </a:rPr>
              <a:t>질의응답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3" name="Google Shape;473;p47"/>
          <p:cNvSpPr txBox="1"/>
          <p:nvPr>
            <p:ph idx="1" type="subTitle"/>
          </p:nvPr>
        </p:nvSpPr>
        <p:spPr>
          <a:xfrm>
            <a:off x="298800" y="339250"/>
            <a:ext cx="8546400" cy="3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02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8"/>
          <p:cNvSpPr txBox="1"/>
          <p:nvPr>
            <p:ph idx="12" type="sldNum"/>
          </p:nvPr>
        </p:nvSpPr>
        <p:spPr>
          <a:xfrm>
            <a:off x="8686800" y="4766400"/>
            <a:ext cx="320400" cy="2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79" name="Google Shape;479;p48"/>
          <p:cNvSpPr txBox="1"/>
          <p:nvPr>
            <p:ph type="title"/>
          </p:nvPr>
        </p:nvSpPr>
        <p:spPr>
          <a:xfrm>
            <a:off x="298800" y="453600"/>
            <a:ext cx="8546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solidFill>
                  <a:schemeClr val="dk2"/>
                </a:solidFill>
              </a:rPr>
              <a:t>질의응답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0" name="Google Shape;480;p48"/>
          <p:cNvSpPr txBox="1"/>
          <p:nvPr>
            <p:ph idx="1" type="body"/>
          </p:nvPr>
        </p:nvSpPr>
        <p:spPr>
          <a:xfrm>
            <a:off x="298800" y="1202400"/>
            <a:ext cx="8546400" cy="3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rgbClr val="5B52FF"/>
                </a:solidFill>
              </a:rPr>
              <a:t>질문1</a:t>
            </a:r>
            <a:endParaRPr sz="1600">
              <a:solidFill>
                <a:srgbClr val="5B52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02124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Font typeface="Nanum Gothic"/>
              <a:buChar char="●"/>
            </a:pPr>
            <a:r>
              <a:rPr lang="ko-KR" sz="1000">
                <a:solidFill>
                  <a:srgbClr val="202124"/>
                </a:solidFill>
                <a:latin typeface="Nanum Gothic"/>
                <a:ea typeface="Nanum Gothic"/>
                <a:cs typeface="Nanum Gothic"/>
                <a:sym typeface="Nanum Gothic"/>
              </a:rPr>
              <a:t>질문</a:t>
            </a:r>
            <a:endParaRPr sz="1000">
              <a:solidFill>
                <a:srgbClr val="202124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cxnSp>
        <p:nvCxnSpPr>
          <p:cNvPr id="481" name="Google Shape;481;p48"/>
          <p:cNvCxnSpPr/>
          <p:nvPr/>
        </p:nvCxnSpPr>
        <p:spPr>
          <a:xfrm>
            <a:off x="290025" y="4737925"/>
            <a:ext cx="8556000" cy="0"/>
          </a:xfrm>
          <a:prstGeom prst="straightConnector1">
            <a:avLst/>
          </a:prstGeom>
          <a:noFill/>
          <a:ln cap="flat" cmpd="sng" w="9525">
            <a:solidFill>
              <a:srgbClr val="E5E5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9"/>
          <p:cNvSpPr txBox="1"/>
          <p:nvPr>
            <p:ph idx="1" type="body"/>
          </p:nvPr>
        </p:nvSpPr>
        <p:spPr>
          <a:xfrm>
            <a:off x="3603600" y="4546800"/>
            <a:ext cx="22248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487" name="Google Shape;487;p49"/>
          <p:cNvSpPr txBox="1"/>
          <p:nvPr>
            <p:ph idx="2" type="body"/>
          </p:nvPr>
        </p:nvSpPr>
        <p:spPr>
          <a:xfrm>
            <a:off x="5828400" y="4546800"/>
            <a:ext cx="2696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8578F7"/>
      </a:dk1>
      <a:lt1>
        <a:srgbClr val="F3F3FF"/>
      </a:lt1>
      <a:dk2>
        <a:srgbClr val="0D1320"/>
      </a:dk2>
      <a:lt2>
        <a:srgbClr val="E6EAFD"/>
      </a:lt2>
      <a:accent1>
        <a:srgbClr val="2F22A3"/>
      </a:accent1>
      <a:accent2>
        <a:srgbClr val="6457DE"/>
      </a:accent2>
      <a:accent3>
        <a:srgbClr val="AEB3FA"/>
      </a:accent3>
      <a:accent4>
        <a:srgbClr val="434C60"/>
      </a:accent4>
      <a:accent5>
        <a:srgbClr val="979CAE"/>
      </a:accent5>
      <a:accent6>
        <a:srgbClr val="D1D1DB"/>
      </a:accent6>
      <a:hlink>
        <a:srgbClr val="979CA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